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B0F"/>
    <a:srgbClr val="2B271B"/>
    <a:srgbClr val="FFF0E1"/>
    <a:srgbClr val="ECE3D4"/>
    <a:srgbClr val="C5AA8D"/>
    <a:srgbClr val="D5BEB3"/>
    <a:srgbClr val="2A1C1C"/>
    <a:srgbClr val="26281E"/>
    <a:srgbClr val="1D291F"/>
    <a:srgbClr val="272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9177C-8DFD-45F8-8F1F-048885791E1A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5A81B-33FE-4588-8202-736B12EA91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686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5A81B-33FE-4588-8202-736B12EA91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025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BA8D1-3CC8-B5E2-3D8E-6886D9A50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C8A51A-0608-1BFD-2475-7B484A02F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2AAC74-18F4-C43C-0476-D9CA0E36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828E86-ED49-F870-DC9C-A018E2166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F515A-D699-3FC6-13F9-627A8373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9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B971E-B5B6-A32F-C179-A76C0304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D44B5C-9D8A-0FF8-C434-C5EF47D2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A05F93-5ED3-4434-5ED5-95B40F233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15F9F-4E7E-E2E6-5B4F-1EB80250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17D540-774C-C165-587C-4F371F06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36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C3396-E3B9-3704-2157-2392C62D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AEA0FA-9337-6D76-2456-EEC8402C4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7909A0-6FD1-651F-73F6-F5B5E653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0FFAA5-897D-58C8-FC38-DE387A86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E7EB97-6938-9FDA-9BB9-314E7BB4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6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ACB07-EBA1-5579-5AA8-68AC4A6E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738874-F26D-5C42-8EA0-0AEE86070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240893-5788-BD6F-4AD2-6646B97EC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B2126E-749A-F011-9786-53192429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DD289-CCB6-5CE5-8325-83AC89D4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9D2774-AD1C-6FD6-668A-A089A410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5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CB2F5-02E6-AD59-B985-83154398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AB2A00-4D9A-4353-3F3E-E57EDA6D1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C84DD1-6B94-F8B7-261B-A4D412725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70701E-147C-F54D-1451-E4E1781E4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E982528-2C8D-C89A-2B82-A5DDE7B6D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646509-05CB-7C31-2F27-6751242B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080A7D-C329-4832-0AC0-7607D3D2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B86C5F-0C63-E055-A7B6-0E28A0CF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8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1DB3A-5D57-E7DE-7660-AEFDEAFB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75F33B-7D1C-F9A3-D906-15D51640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BF92B5-B023-004C-4FEE-71266581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895717-E134-3D22-A600-D71AACFF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16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760B22-B8FF-2B0B-EA2B-5D7B5A31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01D2D9-4D78-93E8-FB37-8569C348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6FFCE2-0323-A904-B404-63163A1F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12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C8272-27DD-7F18-F035-C807DCF5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5669C-F220-A110-0441-305B964E2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2A8764-3E16-6C09-AD5F-C14CFA5B6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05BBCC-4D77-87C1-4563-E624E80F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C09095-BD9D-88D0-6B24-F5650443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8E3DFA-2B30-5289-B899-765905ED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90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A47DC-C501-FB52-0AD1-6BE3B7E1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6CA2DD-4C5C-E5AE-CF91-5D29EAD3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D3C470-73B4-3026-D776-932DB2E91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A4E499-FA9C-0CF8-107A-A9BC649A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AFDEC6-0452-7B10-8C73-11C89442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F40394-446F-8C51-36A0-659A151E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46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8CF5E-8787-21C3-B2A9-6CE9EC35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4AA880-515B-058F-8E3A-E5765ABB8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55113D-BF74-0385-501A-5720553E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B3D745-6F19-8ECC-6593-4C97E14F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945B39-8E13-A067-49D8-FE179EA5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8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9C249A-3B0E-46E0-8F01-5E1F920C5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D49D6D-A31D-543D-D313-2D5AF70F6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8A97F-805E-21F2-E739-039CD2A7A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008EEB-CB34-7034-5093-9F7BFA00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B0520B-182C-8195-F9B3-F32CF7EC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53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8FF0C-1E02-FEF9-B6E1-0913B223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49CA03-B211-1EFA-C40F-782B5D635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8657A2-5BF2-E3E1-2AE5-B58B7FA0E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5B724-B0D4-46BE-B8A1-EA716E2F76E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2BB571-19EB-5CDD-59B7-9BBF42FE0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86C299-6DBE-AFEE-C5BB-BCC2D733F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A6CA9-79D6-40CC-9164-D393900F4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05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9054C96-DEC9-659D-EE98-F9F2C6BFF7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747EA1A9-8F18-32B1-5745-DE9B8B50D288}"/>
              </a:ext>
            </a:extLst>
          </p:cNvPr>
          <p:cNvSpPr/>
          <p:nvPr/>
        </p:nvSpPr>
        <p:spPr>
          <a:xfrm>
            <a:off x="-1195217" y="-846855"/>
            <a:ext cx="14347287" cy="8855298"/>
          </a:xfrm>
          <a:custGeom>
            <a:avLst/>
            <a:gdLst>
              <a:gd name="csX0" fmla="*/ 11160484 w 14347287"/>
              <a:gd name="csY0" fmla="*/ 1930588 h 8855298"/>
              <a:gd name="csX1" fmla="*/ 11135084 w 14347287"/>
              <a:gd name="csY1" fmla="*/ 2269255 h 8855298"/>
              <a:gd name="csX2" fmla="*/ 7824617 w 14347287"/>
              <a:gd name="csY2" fmla="*/ 2514788 h 8855298"/>
              <a:gd name="csX3" fmla="*/ 3625150 w 14347287"/>
              <a:gd name="csY3" fmla="*/ 2066055 h 8855298"/>
              <a:gd name="csX4" fmla="*/ 1965684 w 14347287"/>
              <a:gd name="csY4" fmla="*/ 3429188 h 8855298"/>
              <a:gd name="csX5" fmla="*/ 1991084 w 14347287"/>
              <a:gd name="csY5" fmla="*/ 4775388 h 8855298"/>
              <a:gd name="csX6" fmla="*/ 3328817 w 14347287"/>
              <a:gd name="csY6" fmla="*/ 5410388 h 8855298"/>
              <a:gd name="csX7" fmla="*/ 5276150 w 14347287"/>
              <a:gd name="csY7" fmla="*/ 6400988 h 8855298"/>
              <a:gd name="csX8" fmla="*/ 6156684 w 14347287"/>
              <a:gd name="csY8" fmla="*/ 7400055 h 8855298"/>
              <a:gd name="csX9" fmla="*/ 8874484 w 14347287"/>
              <a:gd name="csY9" fmla="*/ 7095255 h 8855298"/>
              <a:gd name="csX10" fmla="*/ 10618617 w 14347287"/>
              <a:gd name="csY10" fmla="*/ 5952255 h 8855298"/>
              <a:gd name="csX11" fmla="*/ 12413550 w 14347287"/>
              <a:gd name="csY11" fmla="*/ 5867588 h 8855298"/>
              <a:gd name="csX12" fmla="*/ 12184950 w 14347287"/>
              <a:gd name="csY12" fmla="*/ 2497855 h 8855298"/>
              <a:gd name="csX13" fmla="*/ 13844417 w 14347287"/>
              <a:gd name="csY13" fmla="*/ 2430122 h 8855298"/>
              <a:gd name="csX14" fmla="*/ 14191550 w 14347287"/>
              <a:gd name="csY14" fmla="*/ 7146055 h 8855298"/>
              <a:gd name="csX15" fmla="*/ 11566884 w 14347287"/>
              <a:gd name="csY15" fmla="*/ 8771655 h 8855298"/>
              <a:gd name="csX16" fmla="*/ 5225350 w 14347287"/>
              <a:gd name="csY16" fmla="*/ 8636188 h 8855298"/>
              <a:gd name="csX17" fmla="*/ 1339150 w 14347287"/>
              <a:gd name="csY17" fmla="*/ 8517655 h 8855298"/>
              <a:gd name="csX18" fmla="*/ 280817 w 14347287"/>
              <a:gd name="csY18" fmla="*/ 7213788 h 8855298"/>
              <a:gd name="csX19" fmla="*/ 43750 w 14347287"/>
              <a:gd name="csY19" fmla="*/ 4157322 h 8855298"/>
              <a:gd name="csX20" fmla="*/ 272350 w 14347287"/>
              <a:gd name="csY20" fmla="*/ 1151655 h 8855298"/>
              <a:gd name="csX21" fmla="*/ 2558350 w 14347287"/>
              <a:gd name="csY21" fmla="*/ 203388 h 8855298"/>
              <a:gd name="csX22" fmla="*/ 7731484 w 14347287"/>
              <a:gd name="csY22" fmla="*/ 67922 h 8855298"/>
              <a:gd name="csX23" fmla="*/ 11787017 w 14347287"/>
              <a:gd name="csY23" fmla="*/ 177988 h 8855298"/>
              <a:gd name="csX24" fmla="*/ 11160484 w 14347287"/>
              <a:gd name="csY24" fmla="*/ 1930588 h 8855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4347287" h="8855298">
                <a:moveTo>
                  <a:pt x="11160484" y="1930588"/>
                </a:moveTo>
                <a:cubicBezTo>
                  <a:pt x="11051829" y="2279132"/>
                  <a:pt x="11691062" y="2171888"/>
                  <a:pt x="11135084" y="2269255"/>
                </a:cubicBezTo>
                <a:cubicBezTo>
                  <a:pt x="10579106" y="2366622"/>
                  <a:pt x="9076273" y="2548655"/>
                  <a:pt x="7824617" y="2514788"/>
                </a:cubicBezTo>
                <a:cubicBezTo>
                  <a:pt x="6572961" y="2480921"/>
                  <a:pt x="4601639" y="1913655"/>
                  <a:pt x="3625150" y="2066055"/>
                </a:cubicBezTo>
                <a:cubicBezTo>
                  <a:pt x="2648661" y="2218455"/>
                  <a:pt x="2238028" y="2977633"/>
                  <a:pt x="1965684" y="3429188"/>
                </a:cubicBezTo>
                <a:cubicBezTo>
                  <a:pt x="1693340" y="3880743"/>
                  <a:pt x="1763895" y="4445188"/>
                  <a:pt x="1991084" y="4775388"/>
                </a:cubicBezTo>
                <a:cubicBezTo>
                  <a:pt x="2218273" y="5105588"/>
                  <a:pt x="3328817" y="5410388"/>
                  <a:pt x="3328817" y="5410388"/>
                </a:cubicBezTo>
                <a:cubicBezTo>
                  <a:pt x="3876328" y="5681321"/>
                  <a:pt x="4804839" y="6069377"/>
                  <a:pt x="5276150" y="6400988"/>
                </a:cubicBezTo>
                <a:cubicBezTo>
                  <a:pt x="5747461" y="6732599"/>
                  <a:pt x="5556962" y="7284344"/>
                  <a:pt x="6156684" y="7400055"/>
                </a:cubicBezTo>
                <a:cubicBezTo>
                  <a:pt x="6756406" y="7515766"/>
                  <a:pt x="8130828" y="7336555"/>
                  <a:pt x="8874484" y="7095255"/>
                </a:cubicBezTo>
                <a:cubicBezTo>
                  <a:pt x="9618140" y="6853955"/>
                  <a:pt x="10028773" y="6156866"/>
                  <a:pt x="10618617" y="5952255"/>
                </a:cubicBezTo>
                <a:cubicBezTo>
                  <a:pt x="11208461" y="5747644"/>
                  <a:pt x="12152495" y="6443321"/>
                  <a:pt x="12413550" y="5867588"/>
                </a:cubicBezTo>
                <a:cubicBezTo>
                  <a:pt x="12674605" y="5291855"/>
                  <a:pt x="11946472" y="3070766"/>
                  <a:pt x="12184950" y="2497855"/>
                </a:cubicBezTo>
                <a:cubicBezTo>
                  <a:pt x="12423428" y="1924944"/>
                  <a:pt x="13509984" y="1655422"/>
                  <a:pt x="13844417" y="2430122"/>
                </a:cubicBezTo>
                <a:cubicBezTo>
                  <a:pt x="14178850" y="3204822"/>
                  <a:pt x="14571139" y="6089133"/>
                  <a:pt x="14191550" y="7146055"/>
                </a:cubicBezTo>
                <a:cubicBezTo>
                  <a:pt x="13811961" y="8202977"/>
                  <a:pt x="13061251" y="8523300"/>
                  <a:pt x="11566884" y="8771655"/>
                </a:cubicBezTo>
                <a:cubicBezTo>
                  <a:pt x="10072517" y="9020010"/>
                  <a:pt x="5225350" y="8636188"/>
                  <a:pt x="5225350" y="8636188"/>
                </a:cubicBezTo>
                <a:lnTo>
                  <a:pt x="1339150" y="8517655"/>
                </a:lnTo>
                <a:cubicBezTo>
                  <a:pt x="515061" y="8280588"/>
                  <a:pt x="496717" y="7940510"/>
                  <a:pt x="280817" y="7213788"/>
                </a:cubicBezTo>
                <a:cubicBezTo>
                  <a:pt x="64917" y="6487066"/>
                  <a:pt x="45161" y="5167677"/>
                  <a:pt x="43750" y="4157322"/>
                </a:cubicBezTo>
                <a:cubicBezTo>
                  <a:pt x="42339" y="3146967"/>
                  <a:pt x="-146750" y="1810644"/>
                  <a:pt x="272350" y="1151655"/>
                </a:cubicBezTo>
                <a:cubicBezTo>
                  <a:pt x="691450" y="492666"/>
                  <a:pt x="1315161" y="384010"/>
                  <a:pt x="2558350" y="203388"/>
                </a:cubicBezTo>
                <a:cubicBezTo>
                  <a:pt x="3801539" y="22766"/>
                  <a:pt x="6193373" y="72155"/>
                  <a:pt x="7731484" y="67922"/>
                </a:cubicBezTo>
                <a:cubicBezTo>
                  <a:pt x="9269595" y="63689"/>
                  <a:pt x="11214106" y="-139512"/>
                  <a:pt x="11787017" y="177988"/>
                </a:cubicBezTo>
                <a:cubicBezTo>
                  <a:pt x="12359928" y="495488"/>
                  <a:pt x="11269139" y="1582044"/>
                  <a:pt x="11160484" y="1930588"/>
                </a:cubicBezTo>
                <a:close/>
              </a:path>
            </a:pathLst>
          </a:custGeom>
          <a:solidFill>
            <a:srgbClr val="ECE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64120-57DC-7797-DF37-217B8E22F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4896"/>
            <a:ext cx="9144000" cy="1548207"/>
          </a:xfrm>
          <a:noFill/>
        </p:spPr>
        <p:txBody>
          <a:bodyPr>
            <a:noAutofit/>
          </a:bodyPr>
          <a:lstStyle/>
          <a:p>
            <a:r>
              <a:rPr lang="en-US" sz="12000" dirty="0" err="1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ourier New" panose="02070309020205020404" pitchFamily="49" charset="0"/>
              </a:rPr>
              <a:t>SoundHole</a:t>
            </a:r>
            <a:endParaRPr lang="ru-RU" sz="12000" dirty="0">
              <a:solidFill>
                <a:srgbClr val="FFF0E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D2162B-5501-E7D8-66D4-67DDA6228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88" y="4891119"/>
            <a:ext cx="6020312" cy="1878032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latin typeface="Bahnschrift" panose="020B0502040204020203" pitchFamily="34" charset="0"/>
              </a:rPr>
              <a:t>Проект выполнили</a:t>
            </a:r>
            <a:r>
              <a:rPr lang="en-US" sz="1800" dirty="0">
                <a:latin typeface="Bahnschrift" panose="020B0502040204020203" pitchFamily="34" charset="0"/>
              </a:rPr>
              <a:t>:</a:t>
            </a:r>
            <a:endParaRPr lang="ru-RU" sz="1800" dirty="0">
              <a:latin typeface="Bahnschrift" panose="020B0502040204020203" pitchFamily="34" charset="0"/>
            </a:endParaRPr>
          </a:p>
          <a:p>
            <a:pPr algn="l"/>
            <a:r>
              <a:rPr lang="ru-RU" sz="1800" b="1" dirty="0" err="1">
                <a:latin typeface="Bahnschrift" panose="020B0502040204020203" pitchFamily="34" charset="0"/>
              </a:rPr>
              <a:t>Крадинов</a:t>
            </a:r>
            <a:r>
              <a:rPr lang="ru-RU" sz="1800" b="1" dirty="0">
                <a:latin typeface="Bahnschrift" panose="020B0502040204020203" pitchFamily="34" charset="0"/>
              </a:rPr>
              <a:t> Дмитрий Павлович</a:t>
            </a:r>
          </a:p>
          <a:p>
            <a:pPr algn="l"/>
            <a:r>
              <a:rPr lang="ru-RU" sz="1800" b="1" dirty="0">
                <a:latin typeface="Bahnschrift" panose="020B0502040204020203" pitchFamily="34" charset="0"/>
              </a:rPr>
              <a:t>Долженков Михаил Алексеевич</a:t>
            </a:r>
          </a:p>
          <a:p>
            <a:pPr algn="l"/>
            <a:r>
              <a:rPr lang="ru-RU" sz="1800" dirty="0">
                <a:latin typeface="Bahnschrift" panose="020B0502040204020203" pitchFamily="34" charset="0"/>
              </a:rPr>
              <a:t>Яндекс Лицей</a:t>
            </a:r>
          </a:p>
          <a:p>
            <a:pPr algn="l"/>
            <a:r>
              <a:rPr lang="ru-RU" sz="1800" dirty="0">
                <a:latin typeface="Bahnschrift" panose="020B0502040204020203" pitchFamily="34" charset="0"/>
              </a:rPr>
              <a:t>Группа №2 Год 2</a:t>
            </a:r>
          </a:p>
        </p:txBody>
      </p:sp>
      <p:pic>
        <p:nvPicPr>
          <p:cNvPr id="4" name="Рисунок 3" descr="Изображение выглядит как эмблема, герб, символ, коро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2F2DBE1-AFF2-32C8-939E-B4DDC9D16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1" y="127273"/>
            <a:ext cx="1026389" cy="11346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2C26B6-5085-7071-EA85-F55305193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6661" y="0"/>
            <a:ext cx="1605339" cy="1134677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C19A92BF-0520-9216-0C9F-1978BDB7F2D1}"/>
              </a:ext>
            </a:extLst>
          </p:cNvPr>
          <p:cNvSpPr txBox="1">
            <a:spLocks/>
          </p:cNvSpPr>
          <p:nvPr/>
        </p:nvSpPr>
        <p:spPr>
          <a:xfrm>
            <a:off x="1562518" y="88849"/>
            <a:ext cx="9066963" cy="1134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Bahnschrift" panose="020B0502040204020203" pitchFamily="34" charset="0"/>
              </a:rPr>
              <a:t>Федеральное государственное бюджетное образовательное учреждение</a:t>
            </a:r>
          </a:p>
          <a:p>
            <a:r>
              <a:rPr lang="ru-RU" sz="1600" dirty="0">
                <a:latin typeface="Bahnschrift" panose="020B0502040204020203" pitchFamily="34" charset="0"/>
              </a:rPr>
              <a:t>высшего образования «МИРЭА – Российский технологический университет»</a:t>
            </a:r>
          </a:p>
          <a:p>
            <a:r>
              <a:rPr lang="ru-RU" sz="1600" dirty="0">
                <a:latin typeface="Bahnschrift" panose="020B0502040204020203" pitchFamily="34" charset="0"/>
              </a:rPr>
              <a:t>Детский технопарк «Альтаир»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02CF125A-D513-25CB-3485-96F6E610DEE1}"/>
              </a:ext>
            </a:extLst>
          </p:cNvPr>
          <p:cNvSpPr txBox="1">
            <a:spLocks/>
          </p:cNvSpPr>
          <p:nvPr/>
        </p:nvSpPr>
        <p:spPr>
          <a:xfrm>
            <a:off x="6096000" y="5634473"/>
            <a:ext cx="6020312" cy="1134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800" dirty="0">
                <a:latin typeface="Bahnschrift" panose="020B0502040204020203" pitchFamily="34" charset="0"/>
              </a:rPr>
              <a:t>Руководитель </a:t>
            </a:r>
            <a:r>
              <a:rPr lang="ru-RU" sz="1800" dirty="0" err="1">
                <a:latin typeface="Bahnschrift" panose="020B0502040204020203" pitchFamily="34" charset="0"/>
              </a:rPr>
              <a:t>проета</a:t>
            </a:r>
            <a:r>
              <a:rPr lang="en-US" sz="1800" dirty="0">
                <a:latin typeface="Bahnschrift" panose="020B0502040204020203" pitchFamily="34" charset="0"/>
              </a:rPr>
              <a:t>:</a:t>
            </a:r>
            <a:endParaRPr lang="ru-RU" sz="1800" dirty="0">
              <a:latin typeface="Bahnschrift" panose="020B0502040204020203" pitchFamily="34" charset="0"/>
            </a:endParaRPr>
          </a:p>
          <a:p>
            <a:pPr algn="r"/>
            <a:r>
              <a:rPr lang="ru-RU" sz="1800" dirty="0">
                <a:latin typeface="Bahnschrift" panose="020B0502040204020203" pitchFamily="34" charset="0"/>
              </a:rPr>
              <a:t>Преподаватель ДТ «Альтаир»</a:t>
            </a:r>
          </a:p>
          <a:p>
            <a:pPr algn="r"/>
            <a:r>
              <a:rPr lang="ru-RU" sz="1800" b="1" dirty="0">
                <a:latin typeface="Bahnschrift" panose="020B0502040204020203" pitchFamily="34" charset="0"/>
              </a:rPr>
              <a:t>Борисов Артём Игоревич</a:t>
            </a:r>
          </a:p>
        </p:txBody>
      </p:sp>
      <p:pic>
        <p:nvPicPr>
          <p:cNvPr id="9" name="Объект 10">
            <a:extLst>
              <a:ext uri="{FF2B5EF4-FFF2-40B4-BE49-F238E27FC236}">
                <a16:creationId xmlns:a16="http://schemas.microsoft.com/office/drawing/2014/main" id="{E1D934C9-69D6-B0EA-83D9-772F25EBF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88536" y="0"/>
            <a:ext cx="6301336" cy="63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4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DD0D4AA-74A1-AF5D-0AFD-77F3F4519D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158C4-1A38-D4F7-A0EF-1A250600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490" y="1164074"/>
            <a:ext cx="6661150" cy="1325563"/>
          </a:xfrm>
        </p:spPr>
        <p:txBody>
          <a:bodyPr>
            <a:noAutofit/>
          </a:bodyPr>
          <a:lstStyle/>
          <a:p>
            <a:pPr algn="ctr"/>
            <a:r>
              <a:rPr lang="ru-RU" sz="6000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Актуальность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1F0774E0-9611-50A6-1947-09E6DC580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6182" y="116732"/>
            <a:ext cx="6301336" cy="63013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7390FA-EF6C-9251-5A73-76D607AFFB2E}"/>
              </a:ext>
            </a:extLst>
          </p:cNvPr>
          <p:cNvSpPr txBox="1"/>
          <p:nvPr/>
        </p:nvSpPr>
        <p:spPr>
          <a:xfrm>
            <a:off x="5128816" y="3080544"/>
            <a:ext cx="62857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ru-RU" sz="1900" dirty="0">
                <a:solidFill>
                  <a:srgbClr val="FFF0E1"/>
                </a:solidFill>
                <a:latin typeface="Bahnschrift" panose="020B0502040204020203" pitchFamily="34" charset="0"/>
                <a:ea typeface="Segoe UI Black" panose="020B0A02040204020203" pitchFamily="34" charset="0"/>
              </a:rPr>
              <a:t>Современные стриминговые сервисы требуют подписки или частого просматривания рекламы. Независимые молодые группы не могут пробиться в рекомендации. Данный проект совмещает в себе элементы социальной сети и платформу для честного продвижения коллективов.</a:t>
            </a:r>
          </a:p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9D79771-5B1D-0D9A-7C55-ED0635F3F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974732"/>
            <a:ext cx="97536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74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5FBA491-6313-70AF-1C2A-FC5A9708A5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7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74204DE-330C-BC94-7DE6-4E7C21B1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425" y="236835"/>
            <a:ext cx="6661150" cy="702826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Цели и задачи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BB8B02B-1B4A-8AE8-7556-1A79C3200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137025"/>
            <a:ext cx="9753600" cy="28289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7DE882-69ED-AB83-C126-2F1121BF00E0}"/>
              </a:ext>
            </a:extLst>
          </p:cNvPr>
          <p:cNvSpPr txBox="1"/>
          <p:nvPr/>
        </p:nvSpPr>
        <p:spPr>
          <a:xfrm>
            <a:off x="488950" y="1685280"/>
            <a:ext cx="404495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Цель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</a:p>
          <a:p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>
              <a:lnSpc>
                <a:spcPts val="2260"/>
              </a:lnSpc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Разработать сайт для музыкальных групп, который позволит слушателям знакомиться с творчеством без подписок и рекламы. Повысить узнаваемость независимость музыкальных групп.</a:t>
            </a:r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32F2F-420E-D1AE-AC96-5AFBDAFADB2E}"/>
              </a:ext>
            </a:extLst>
          </p:cNvPr>
          <p:cNvSpPr txBox="1"/>
          <p:nvPr/>
        </p:nvSpPr>
        <p:spPr>
          <a:xfrm>
            <a:off x="5480050" y="1685280"/>
            <a:ext cx="61341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Задачи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lvl="0" indent="-285750" algn="r">
              <a:lnSpc>
                <a:spcPts val="226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Изучить библиотеку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Flask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lvl="0" indent="-285750" algn="r">
              <a:lnSpc>
                <a:spcPts val="226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Исследовать возможности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API:REST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lvl="0" indent="-285750" algn="r">
              <a:lnSpc>
                <a:spcPts val="226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Спроектировать интуитивно понятный интерфейс</a:t>
            </a:r>
          </a:p>
          <a:p>
            <a:pPr marL="285750" lvl="0" indent="-285750" algn="r">
              <a:lnSpc>
                <a:spcPts val="226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Реализовать возможность авторизации</a:t>
            </a:r>
          </a:p>
          <a:p>
            <a:pPr marL="285750" lvl="0" indent="-285750" algn="r">
              <a:lnSpc>
                <a:spcPts val="226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Разработать главное меню</a:t>
            </a:r>
          </a:p>
          <a:p>
            <a:pPr marL="285750" lvl="0" indent="-285750" algn="r">
              <a:lnSpc>
                <a:spcPts val="226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Создать базу данных для поиска информации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7F1A4-A8CD-67D0-524C-67BF4BACBEAF}"/>
              </a:ext>
            </a:extLst>
          </p:cNvPr>
          <p:cNvSpPr txBox="1"/>
          <p:nvPr/>
        </p:nvSpPr>
        <p:spPr>
          <a:xfrm>
            <a:off x="-4968875" y="2867564"/>
            <a:ext cx="4603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Python 3.12+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Visual Studio Code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с расширениями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0E1"/>
                </a:solidFill>
                <a:latin typeface="Bahnschrift" panose="020B0502040204020203" pitchFamily="34" charset="0"/>
              </a:rPr>
              <a:t>Github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 Desktop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F3850-F335-2477-FCDD-180A9DADACE3}"/>
              </a:ext>
            </a:extLst>
          </p:cNvPr>
          <p:cNvSpPr txBox="1"/>
          <p:nvPr/>
        </p:nvSpPr>
        <p:spPr>
          <a:xfrm>
            <a:off x="12557125" y="2533338"/>
            <a:ext cx="370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Unicorn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0E1"/>
                </a:solidFill>
                <a:latin typeface="Bahnschrift" panose="020B0502040204020203" pitchFamily="34" charset="0"/>
              </a:rPr>
              <a:t>Uiverse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Книги Валерия </a:t>
            </a:r>
            <a:r>
              <a:rPr lang="ru-RU" dirty="0" err="1">
                <a:solidFill>
                  <a:srgbClr val="FFF0E1"/>
                </a:solidFill>
                <a:latin typeface="Bahnschrift" panose="020B0502040204020203" pitchFamily="34" charset="0"/>
              </a:rPr>
              <a:t>Рубанцева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Документация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Flask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840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EC36DD-8486-33CC-C799-0E11E3BC0B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9379DE4-3179-B1E2-6F1E-9909A29F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437" y="365344"/>
            <a:ext cx="7619126" cy="70282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Используемое ПО и ресурсы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B0344-8DCD-1072-8024-97B73FFBC17D}"/>
              </a:ext>
            </a:extLst>
          </p:cNvPr>
          <p:cNvSpPr txBox="1"/>
          <p:nvPr/>
        </p:nvSpPr>
        <p:spPr>
          <a:xfrm>
            <a:off x="1385121" y="2690334"/>
            <a:ext cx="41933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Python 3.12+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Visual Studio Code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с расширениями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0E1"/>
                </a:solidFill>
                <a:latin typeface="Bahnschrift" panose="020B0502040204020203" pitchFamily="34" charset="0"/>
              </a:rPr>
              <a:t>Github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 Desktop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2C823-B6D3-2136-B79B-8906F748D273}"/>
              </a:ext>
            </a:extLst>
          </p:cNvPr>
          <p:cNvSpPr txBox="1"/>
          <p:nvPr/>
        </p:nvSpPr>
        <p:spPr>
          <a:xfrm>
            <a:off x="6613495" y="2413336"/>
            <a:ext cx="32920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Unicorn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0E1"/>
                </a:solidFill>
                <a:latin typeface="Bahnschrift" panose="020B0502040204020203" pitchFamily="34" charset="0"/>
              </a:rPr>
              <a:t>Uiverse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Книги Валерия </a:t>
            </a:r>
            <a:r>
              <a:rPr lang="ru-RU" dirty="0" err="1">
                <a:solidFill>
                  <a:srgbClr val="FFF0E1"/>
                </a:solidFill>
                <a:latin typeface="Bahnschrift" panose="020B0502040204020203" pitchFamily="34" charset="0"/>
              </a:rPr>
              <a:t>Рубанцева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Документация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Flask</a:t>
            </a:r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A7BAB29D-1E53-15B8-DCDB-B2A5A5E4B5BA}"/>
              </a:ext>
            </a:extLst>
          </p:cNvPr>
          <p:cNvSpPr/>
          <p:nvPr/>
        </p:nvSpPr>
        <p:spPr>
          <a:xfrm>
            <a:off x="-1682025" y="-1373293"/>
            <a:ext cx="16057954" cy="9734564"/>
          </a:xfrm>
          <a:custGeom>
            <a:avLst/>
            <a:gdLst>
              <a:gd name="csX0" fmla="*/ 2269166 w 16057954"/>
              <a:gd name="csY0" fmla="*/ 6091900 h 9734564"/>
              <a:gd name="csX1" fmla="*/ 2240290 w 16057954"/>
              <a:gd name="csY1" fmla="*/ 6313281 h 9734564"/>
              <a:gd name="csX2" fmla="*/ 3173941 w 16057954"/>
              <a:gd name="csY2" fmla="*/ 7516439 h 9734564"/>
              <a:gd name="csX3" fmla="*/ 5474379 w 16057954"/>
              <a:gd name="csY3" fmla="*/ 7516439 h 9734564"/>
              <a:gd name="csX4" fmla="*/ 7072172 w 16057954"/>
              <a:gd name="csY4" fmla="*/ 7718569 h 9734564"/>
              <a:gd name="csX5" fmla="*/ 8987600 w 16057954"/>
              <a:gd name="csY5" fmla="*/ 6833045 h 9734564"/>
              <a:gd name="csX6" fmla="*/ 9930875 w 16057954"/>
              <a:gd name="csY6" fmla="*/ 7680068 h 9734564"/>
              <a:gd name="csX7" fmla="*/ 11066656 w 16057954"/>
              <a:gd name="csY7" fmla="*/ 6486536 h 9734564"/>
              <a:gd name="csX8" fmla="*/ 12433444 w 16057954"/>
              <a:gd name="csY8" fmla="*/ 7256557 h 9734564"/>
              <a:gd name="csX9" fmla="*/ 12404568 w 16057954"/>
              <a:gd name="csY9" fmla="*/ 5572136 h 9734564"/>
              <a:gd name="csX10" fmla="*/ 13338219 w 16057954"/>
              <a:gd name="csY10" fmla="*/ 4407479 h 9734564"/>
              <a:gd name="csX11" fmla="*/ 13116837 w 16057954"/>
              <a:gd name="csY11" fmla="*/ 2453550 h 9734564"/>
              <a:gd name="csX12" fmla="*/ 11952181 w 16057954"/>
              <a:gd name="csY12" fmla="*/ 2646056 h 9734564"/>
              <a:gd name="csX13" fmla="*/ 11172534 w 16057954"/>
              <a:gd name="csY13" fmla="*/ 1673904 h 9734564"/>
              <a:gd name="csX14" fmla="*/ 6167397 w 16057954"/>
              <a:gd name="csY14" fmla="*/ 1481399 h 9734564"/>
              <a:gd name="csX15" fmla="*/ 3597452 w 16057954"/>
              <a:gd name="csY15" fmla="*/ 2386173 h 9734564"/>
              <a:gd name="csX16" fmla="*/ 1980408 w 16057954"/>
              <a:gd name="csY16" fmla="*/ 2386173 h 9734564"/>
              <a:gd name="csX17" fmla="*/ 3241317 w 16057954"/>
              <a:gd name="csY17" fmla="*/ 3618207 h 9734564"/>
              <a:gd name="csX18" fmla="*/ 2307667 w 16057954"/>
              <a:gd name="csY18" fmla="*/ 4782864 h 9734564"/>
              <a:gd name="csX19" fmla="*/ 247861 w 16057954"/>
              <a:gd name="csY19" fmla="*/ 5244877 h 9734564"/>
              <a:gd name="csX20" fmla="*/ 478867 w 16057954"/>
              <a:gd name="csY20" fmla="*/ 2588304 h 9734564"/>
              <a:gd name="csX21" fmla="*/ 2298042 w 16057954"/>
              <a:gd name="csY21" fmla="*/ 181988 h 9734564"/>
              <a:gd name="csX22" fmla="*/ 11942555 w 16057954"/>
              <a:gd name="csY22" fmla="*/ 412995 h 9734564"/>
              <a:gd name="csX23" fmla="*/ 15773410 w 16057954"/>
              <a:gd name="csY23" fmla="*/ 2347672 h 9734564"/>
              <a:gd name="csX24" fmla="*/ 15657907 w 16057954"/>
              <a:gd name="csY24" fmla="*/ 6284405 h 9734564"/>
              <a:gd name="csX25" fmla="*/ 14714631 w 16057954"/>
              <a:gd name="csY25" fmla="*/ 9143108 h 9734564"/>
              <a:gd name="csX26" fmla="*/ 7765191 w 16057954"/>
              <a:gd name="csY26" fmla="*/ 9730249 h 9734564"/>
              <a:gd name="csX27" fmla="*/ 1008256 w 16057954"/>
              <a:gd name="csY27" fmla="*/ 9017980 h 9734564"/>
              <a:gd name="csX28" fmla="*/ 26480 w 16057954"/>
              <a:gd name="csY28" fmla="*/ 8045828 h 9734564"/>
              <a:gd name="csX29" fmla="*/ 931254 w 16057954"/>
              <a:gd name="csY29" fmla="*/ 6390283 h 9734564"/>
              <a:gd name="csX30" fmla="*/ 2269166 w 16057954"/>
              <a:gd name="csY30" fmla="*/ 6091900 h 97345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6057954" h="9734564">
                <a:moveTo>
                  <a:pt x="2269166" y="6091900"/>
                </a:moveTo>
                <a:cubicBezTo>
                  <a:pt x="2487339" y="6079066"/>
                  <a:pt x="2089494" y="6075858"/>
                  <a:pt x="2240290" y="6313281"/>
                </a:cubicBezTo>
                <a:cubicBezTo>
                  <a:pt x="2391086" y="6550704"/>
                  <a:pt x="2634926" y="7315913"/>
                  <a:pt x="3173941" y="7516439"/>
                </a:cubicBezTo>
                <a:cubicBezTo>
                  <a:pt x="3712956" y="7716965"/>
                  <a:pt x="4824674" y="7482751"/>
                  <a:pt x="5474379" y="7516439"/>
                </a:cubicBezTo>
                <a:cubicBezTo>
                  <a:pt x="6124084" y="7550127"/>
                  <a:pt x="6486635" y="7832468"/>
                  <a:pt x="7072172" y="7718569"/>
                </a:cubicBezTo>
                <a:cubicBezTo>
                  <a:pt x="7657709" y="7604670"/>
                  <a:pt x="8511150" y="6839462"/>
                  <a:pt x="8987600" y="6833045"/>
                </a:cubicBezTo>
                <a:cubicBezTo>
                  <a:pt x="9464050" y="6826628"/>
                  <a:pt x="9584366" y="7737819"/>
                  <a:pt x="9930875" y="7680068"/>
                </a:cubicBezTo>
                <a:cubicBezTo>
                  <a:pt x="10277384" y="7622317"/>
                  <a:pt x="10649561" y="6557121"/>
                  <a:pt x="11066656" y="6486536"/>
                </a:cubicBezTo>
                <a:cubicBezTo>
                  <a:pt x="11483751" y="6415951"/>
                  <a:pt x="12210459" y="7408957"/>
                  <a:pt x="12433444" y="7256557"/>
                </a:cubicBezTo>
                <a:cubicBezTo>
                  <a:pt x="12656429" y="7104157"/>
                  <a:pt x="12253772" y="6046982"/>
                  <a:pt x="12404568" y="5572136"/>
                </a:cubicBezTo>
                <a:cubicBezTo>
                  <a:pt x="12555364" y="5097290"/>
                  <a:pt x="13219508" y="4927243"/>
                  <a:pt x="13338219" y="4407479"/>
                </a:cubicBezTo>
                <a:cubicBezTo>
                  <a:pt x="13456930" y="3887715"/>
                  <a:pt x="13347843" y="2747120"/>
                  <a:pt x="13116837" y="2453550"/>
                </a:cubicBezTo>
                <a:cubicBezTo>
                  <a:pt x="12885831" y="2159979"/>
                  <a:pt x="12276231" y="2775997"/>
                  <a:pt x="11952181" y="2646056"/>
                </a:cubicBezTo>
                <a:cubicBezTo>
                  <a:pt x="11628131" y="2516115"/>
                  <a:pt x="12136665" y="1868013"/>
                  <a:pt x="11172534" y="1673904"/>
                </a:cubicBezTo>
                <a:cubicBezTo>
                  <a:pt x="10208403" y="1479794"/>
                  <a:pt x="7429911" y="1362688"/>
                  <a:pt x="6167397" y="1481399"/>
                </a:cubicBezTo>
                <a:cubicBezTo>
                  <a:pt x="4904883" y="1600110"/>
                  <a:pt x="4295283" y="2235377"/>
                  <a:pt x="3597452" y="2386173"/>
                </a:cubicBezTo>
                <a:cubicBezTo>
                  <a:pt x="2899621" y="2536969"/>
                  <a:pt x="2039764" y="2180834"/>
                  <a:pt x="1980408" y="2386173"/>
                </a:cubicBezTo>
                <a:cubicBezTo>
                  <a:pt x="1921052" y="2591512"/>
                  <a:pt x="3186774" y="3218759"/>
                  <a:pt x="3241317" y="3618207"/>
                </a:cubicBezTo>
                <a:cubicBezTo>
                  <a:pt x="3295860" y="4017655"/>
                  <a:pt x="2806576" y="4511752"/>
                  <a:pt x="2307667" y="4782864"/>
                </a:cubicBezTo>
                <a:cubicBezTo>
                  <a:pt x="1808758" y="5053976"/>
                  <a:pt x="552661" y="5610637"/>
                  <a:pt x="247861" y="5244877"/>
                </a:cubicBezTo>
                <a:cubicBezTo>
                  <a:pt x="-56939" y="4879117"/>
                  <a:pt x="137170" y="3432119"/>
                  <a:pt x="478867" y="2588304"/>
                </a:cubicBezTo>
                <a:cubicBezTo>
                  <a:pt x="820564" y="1744489"/>
                  <a:pt x="387427" y="544539"/>
                  <a:pt x="2298042" y="181988"/>
                </a:cubicBezTo>
                <a:cubicBezTo>
                  <a:pt x="4208657" y="-180563"/>
                  <a:pt x="9696660" y="52048"/>
                  <a:pt x="11942555" y="412995"/>
                </a:cubicBezTo>
                <a:cubicBezTo>
                  <a:pt x="14188450" y="773942"/>
                  <a:pt x="15154185" y="1369104"/>
                  <a:pt x="15773410" y="2347672"/>
                </a:cubicBezTo>
                <a:cubicBezTo>
                  <a:pt x="16392635" y="3326240"/>
                  <a:pt x="15834370" y="5151832"/>
                  <a:pt x="15657907" y="6284405"/>
                </a:cubicBezTo>
                <a:cubicBezTo>
                  <a:pt x="15481444" y="7416978"/>
                  <a:pt x="16030084" y="8568801"/>
                  <a:pt x="14714631" y="9143108"/>
                </a:cubicBezTo>
                <a:cubicBezTo>
                  <a:pt x="13399178" y="9717415"/>
                  <a:pt x="10049587" y="9751104"/>
                  <a:pt x="7765191" y="9730249"/>
                </a:cubicBezTo>
                <a:cubicBezTo>
                  <a:pt x="5480795" y="9709394"/>
                  <a:pt x="2298041" y="9298717"/>
                  <a:pt x="1008256" y="9017980"/>
                </a:cubicBezTo>
                <a:cubicBezTo>
                  <a:pt x="-281529" y="8737243"/>
                  <a:pt x="39314" y="8483777"/>
                  <a:pt x="26480" y="8045828"/>
                </a:cubicBezTo>
                <a:cubicBezTo>
                  <a:pt x="13646" y="7607879"/>
                  <a:pt x="559077" y="6711125"/>
                  <a:pt x="931254" y="6390283"/>
                </a:cubicBezTo>
                <a:cubicBezTo>
                  <a:pt x="1303431" y="6069441"/>
                  <a:pt x="2050993" y="6104734"/>
                  <a:pt x="2269166" y="6091900"/>
                </a:cubicBezTo>
                <a:close/>
              </a:path>
            </a:pathLst>
          </a:cu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6281E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447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24EF0A-4F04-301D-8D9C-F152F7529D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4114B35-D463-2A84-8FD0-1920D72D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12" y="147935"/>
            <a:ext cx="9375775" cy="702826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Методика выполнения работы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BCC444-BCD4-C2B0-A081-B6CAF598BD2F}"/>
              </a:ext>
            </a:extLst>
          </p:cNvPr>
          <p:cNvSpPr txBox="1"/>
          <p:nvPr/>
        </p:nvSpPr>
        <p:spPr>
          <a:xfrm>
            <a:off x="9265076" y="5147848"/>
            <a:ext cx="305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4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Отладка валидации данных,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requirements.txt,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написание документации, тестирование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30E61-8EA6-B300-19C4-DF2A5965E2C0}"/>
              </a:ext>
            </a:extLst>
          </p:cNvPr>
          <p:cNvSpPr txBox="1"/>
          <p:nvPr/>
        </p:nvSpPr>
        <p:spPr>
          <a:xfrm>
            <a:off x="3409371" y="5147848"/>
            <a:ext cx="2959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2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Создание моделей </a:t>
            </a:r>
            <a:r>
              <a:rPr lang="en-US" dirty="0" err="1">
                <a:solidFill>
                  <a:srgbClr val="FFF0E1"/>
                </a:solidFill>
                <a:latin typeface="Bahnschrift" panose="020B0502040204020203" pitchFamily="34" charset="0"/>
              </a:rPr>
              <a:t>SQLAlchemy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маршрутов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Flask,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реализация авторизации, рейтинга и модерации.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14DEDE-E5E6-BABE-393C-F800628401D1}"/>
              </a:ext>
            </a:extLst>
          </p:cNvPr>
          <p:cNvSpPr txBox="1"/>
          <p:nvPr/>
        </p:nvSpPr>
        <p:spPr>
          <a:xfrm>
            <a:off x="6336295" y="1756278"/>
            <a:ext cx="2928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3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Добавление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Bootstrap,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создание кастомных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CSS-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анимаций и скриптов для поиска и оценки групп.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441CB7-7B2F-CE8E-E6C5-8F39F69E7E10}"/>
              </a:ext>
            </a:extLst>
          </p:cNvPr>
          <p:cNvSpPr txBox="1"/>
          <p:nvPr/>
        </p:nvSpPr>
        <p:spPr>
          <a:xfrm>
            <a:off x="278523" y="1756278"/>
            <a:ext cx="31308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1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Выбор технологий, разработка базы данных, логика взаимодействия слушателей, групп и админов.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1C9E57-DD63-4DC7-26AD-F2856EDA5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71165">
            <a:off x="150464" y="3623559"/>
            <a:ext cx="4799693" cy="153156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A910D8D-4630-FAC7-729D-8760A0B0C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76517">
            <a:off x="4110709" y="3430948"/>
            <a:ext cx="4645047" cy="232252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6E86AC0-590A-61D1-EF16-ABD5BAFF2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59104">
            <a:off x="7136351" y="2273639"/>
            <a:ext cx="4421824" cy="442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7308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5AEBEF-7FB5-7D75-2C37-9426E07FAC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779D2A-EF6C-1B45-78F4-64BF677FF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493" y="1976596"/>
            <a:ext cx="5581011" cy="5581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2B7F0E-9781-F84F-D41F-804DE69469AC}"/>
              </a:ext>
            </a:extLst>
          </p:cNvPr>
          <p:cNvSpPr txBox="1"/>
          <p:nvPr/>
        </p:nvSpPr>
        <p:spPr>
          <a:xfrm>
            <a:off x="2349414" y="406936"/>
            <a:ext cx="74931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Результаты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5293C81-4543-617F-356F-F975CCBEC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74023">
            <a:off x="8144282" y="-309549"/>
            <a:ext cx="4060687" cy="61021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C79B354-E37D-A19F-85B4-9A438AC64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61522">
            <a:off x="8592217" y="4695328"/>
            <a:ext cx="2500733" cy="37579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16A2B1C-7422-DE5D-5A00-4E8C32D1A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984974">
            <a:off x="-887794" y="53452"/>
            <a:ext cx="2970299" cy="44635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B304CC7-C52F-005A-F735-41C8939FA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87629">
            <a:off x="-246797" y="2785223"/>
            <a:ext cx="3799087" cy="57090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0211A1-B821-8998-9899-32E7C5DF5048}"/>
              </a:ext>
            </a:extLst>
          </p:cNvPr>
          <p:cNvSpPr txBox="1"/>
          <p:nvPr/>
        </p:nvSpPr>
        <p:spPr>
          <a:xfrm>
            <a:off x="9429126" y="8502465"/>
            <a:ext cx="305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4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Отладка валидации данных,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requirements.txt,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написание документации, тестирование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53ED99-DE73-9C95-E5C2-C45F9F630099}"/>
              </a:ext>
            </a:extLst>
          </p:cNvPr>
          <p:cNvSpPr txBox="1"/>
          <p:nvPr/>
        </p:nvSpPr>
        <p:spPr>
          <a:xfrm>
            <a:off x="3473335" y="-1763664"/>
            <a:ext cx="2959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2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Создание моделей </a:t>
            </a:r>
            <a:r>
              <a:rPr lang="en-US" dirty="0" err="1">
                <a:solidFill>
                  <a:srgbClr val="FFF0E1"/>
                </a:solidFill>
                <a:latin typeface="Bahnschrift" panose="020B0502040204020203" pitchFamily="34" charset="0"/>
              </a:rPr>
              <a:t>SQLAlchemy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маршрутов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Flask,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реализация авторизации, рейтинга и модерации.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64551D-D49C-44A4-D613-72FAE8FF31B8}"/>
              </a:ext>
            </a:extLst>
          </p:cNvPr>
          <p:cNvSpPr txBox="1"/>
          <p:nvPr/>
        </p:nvSpPr>
        <p:spPr>
          <a:xfrm>
            <a:off x="6500345" y="-1694066"/>
            <a:ext cx="2928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3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Добавление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Bootstrap,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создание кастомных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CSS-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анимаций и скриптов для поиска и оценки групп.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3083E-59B5-0804-0FB7-E0BBFB280C87}"/>
              </a:ext>
            </a:extLst>
          </p:cNvPr>
          <p:cNvSpPr txBox="1"/>
          <p:nvPr/>
        </p:nvSpPr>
        <p:spPr>
          <a:xfrm>
            <a:off x="-4316391" y="1716206"/>
            <a:ext cx="31308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1 этап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: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Выбор технологий, разработка базы данных, логика взаимодействия слушателей, групп и админов.</a:t>
            </a:r>
            <a:endParaRPr lang="en-US" dirty="0">
              <a:solidFill>
                <a:srgbClr val="FFF0E1"/>
              </a:solidFill>
              <a:latin typeface="Bahnschrift" panose="020B0502040204020203" pitchFamily="34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E83901E-D0C4-8068-7106-EA9592276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71165">
            <a:off x="-66276" y="8046533"/>
            <a:ext cx="4799693" cy="153156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39DD4FA-84D7-5309-C79C-E4E17942F4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76517">
            <a:off x="3892740" y="7843039"/>
            <a:ext cx="4645047" cy="232252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2139250-0207-63BA-5547-3B6766E655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59104">
            <a:off x="12631693" y="2274172"/>
            <a:ext cx="4421824" cy="442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14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86081D-9C3D-8C25-0D97-4C827E9DF8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E7FF06-F96E-1B39-155D-A88A24870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99" y="1006455"/>
            <a:ext cx="7575740" cy="49549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E20C1E9-54B5-937B-2C2B-93C6D0204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850" y="123745"/>
            <a:ext cx="4054239" cy="65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44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A48E00-265C-CAB1-0416-81E0630080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FFB745-1510-04AF-6C93-F3685837D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731" y="1509680"/>
            <a:ext cx="5740859" cy="38386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F39AE8-6EB7-0AC4-E96F-664FE622C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96" y="1096710"/>
            <a:ext cx="5828575" cy="466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8188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10A56E-3360-820C-4974-72D2C0E015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7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A11BA-F5BE-F254-E653-FE5B66EBF062}"/>
              </a:ext>
            </a:extLst>
          </p:cNvPr>
          <p:cNvSpPr txBox="1"/>
          <p:nvPr/>
        </p:nvSpPr>
        <p:spPr>
          <a:xfrm>
            <a:off x="2846504" y="490953"/>
            <a:ext cx="64989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800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Выводы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D789B-EAFA-772F-6988-9E28F00A1269}"/>
              </a:ext>
            </a:extLst>
          </p:cNvPr>
          <p:cNvSpPr txBox="1"/>
          <p:nvPr/>
        </p:nvSpPr>
        <p:spPr>
          <a:xfrm>
            <a:off x="3676087" y="2957189"/>
            <a:ext cx="4839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Библиотека </a:t>
            </a:r>
            <a:r>
              <a:rPr lang="en-US" dirty="0">
                <a:solidFill>
                  <a:srgbClr val="FFF0E1"/>
                </a:solidFill>
                <a:latin typeface="Bahnschrift" panose="020B0502040204020203" pitchFamily="34" charset="0"/>
              </a:rPr>
              <a:t>Flask 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изучена</a:t>
            </a: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Разработанный интерфейс прост и понятен</a:t>
            </a: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Есть функция регистрации и входа</a:t>
            </a: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База данных создана</a:t>
            </a: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Главное меню сделано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2243D01B-AAE7-D760-86B7-C84BE11181DC}"/>
              </a:ext>
            </a:extLst>
          </p:cNvPr>
          <p:cNvSpPr/>
          <p:nvPr/>
        </p:nvSpPr>
        <p:spPr>
          <a:xfrm>
            <a:off x="-450863" y="-196649"/>
            <a:ext cx="3848113" cy="7478312"/>
          </a:xfrm>
          <a:custGeom>
            <a:avLst/>
            <a:gdLst>
              <a:gd name="csX0" fmla="*/ 3790963 w 4234927"/>
              <a:gd name="csY0" fmla="*/ 514149 h 7478312"/>
              <a:gd name="csX1" fmla="*/ 3670313 w 4234927"/>
              <a:gd name="csY1" fmla="*/ 742749 h 7478312"/>
              <a:gd name="csX2" fmla="*/ 2552713 w 4234927"/>
              <a:gd name="csY2" fmla="*/ 2177849 h 7478312"/>
              <a:gd name="csX3" fmla="*/ 3689363 w 4234927"/>
              <a:gd name="csY3" fmla="*/ 4425749 h 7478312"/>
              <a:gd name="csX4" fmla="*/ 3968763 w 4234927"/>
              <a:gd name="csY4" fmla="*/ 6635549 h 7478312"/>
              <a:gd name="csX5" fmla="*/ 1549413 w 4234927"/>
              <a:gd name="csY5" fmla="*/ 7264199 h 7478312"/>
              <a:gd name="csX6" fmla="*/ 196863 w 4234927"/>
              <a:gd name="csY6" fmla="*/ 7029249 h 7478312"/>
              <a:gd name="csX7" fmla="*/ 171463 w 4234927"/>
              <a:gd name="csY7" fmla="*/ 2463599 h 7478312"/>
              <a:gd name="csX8" fmla="*/ 323863 w 4234927"/>
              <a:gd name="csY8" fmla="*/ 171249 h 7478312"/>
              <a:gd name="csX9" fmla="*/ 4006863 w 4234927"/>
              <a:gd name="csY9" fmla="*/ 209349 h 7478312"/>
              <a:gd name="csX10" fmla="*/ 3835413 w 4234927"/>
              <a:gd name="csY10" fmla="*/ 552249 h 7478312"/>
              <a:gd name="csX11" fmla="*/ 3790963 w 4234927"/>
              <a:gd name="csY11" fmla="*/ 514149 h 7478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234927" h="7478312">
                <a:moveTo>
                  <a:pt x="3790963" y="514149"/>
                </a:moveTo>
                <a:cubicBezTo>
                  <a:pt x="3763446" y="545899"/>
                  <a:pt x="3876688" y="465466"/>
                  <a:pt x="3670313" y="742749"/>
                </a:cubicBezTo>
                <a:cubicBezTo>
                  <a:pt x="3463938" y="1020032"/>
                  <a:pt x="2549538" y="1564016"/>
                  <a:pt x="2552713" y="2177849"/>
                </a:cubicBezTo>
                <a:cubicBezTo>
                  <a:pt x="2555888" y="2791682"/>
                  <a:pt x="3453355" y="3682799"/>
                  <a:pt x="3689363" y="4425749"/>
                </a:cubicBezTo>
                <a:cubicBezTo>
                  <a:pt x="3925371" y="5168699"/>
                  <a:pt x="4325421" y="6162474"/>
                  <a:pt x="3968763" y="6635549"/>
                </a:cubicBezTo>
                <a:cubicBezTo>
                  <a:pt x="3612105" y="7108624"/>
                  <a:pt x="2178063" y="7198582"/>
                  <a:pt x="1549413" y="7264199"/>
                </a:cubicBezTo>
                <a:cubicBezTo>
                  <a:pt x="920763" y="7329816"/>
                  <a:pt x="426521" y="7829349"/>
                  <a:pt x="196863" y="7029249"/>
                </a:cubicBezTo>
                <a:cubicBezTo>
                  <a:pt x="-32795" y="6229149"/>
                  <a:pt x="150296" y="3606599"/>
                  <a:pt x="171463" y="2463599"/>
                </a:cubicBezTo>
                <a:cubicBezTo>
                  <a:pt x="192630" y="1320599"/>
                  <a:pt x="-315370" y="546957"/>
                  <a:pt x="323863" y="171249"/>
                </a:cubicBezTo>
                <a:cubicBezTo>
                  <a:pt x="963096" y="-204459"/>
                  <a:pt x="3421605" y="145849"/>
                  <a:pt x="4006863" y="209349"/>
                </a:cubicBezTo>
                <a:cubicBezTo>
                  <a:pt x="4592121" y="272849"/>
                  <a:pt x="3870338" y="505682"/>
                  <a:pt x="3835413" y="552249"/>
                </a:cubicBezTo>
                <a:cubicBezTo>
                  <a:pt x="3800488" y="598816"/>
                  <a:pt x="3818480" y="482399"/>
                  <a:pt x="3790963" y="514149"/>
                </a:cubicBezTo>
                <a:close/>
              </a:path>
            </a:pathLst>
          </a:cu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F2D4C3C-8C9A-4AC2-7711-3F23562938F4}"/>
              </a:ext>
            </a:extLst>
          </p:cNvPr>
          <p:cNvSpPr/>
          <p:nvPr/>
        </p:nvSpPr>
        <p:spPr>
          <a:xfrm>
            <a:off x="8046708" y="-115806"/>
            <a:ext cx="4753244" cy="7495353"/>
          </a:xfrm>
          <a:custGeom>
            <a:avLst/>
            <a:gdLst>
              <a:gd name="csX0" fmla="*/ 2970542 w 4753244"/>
              <a:gd name="csY0" fmla="*/ 382506 h 7495353"/>
              <a:gd name="csX1" fmla="*/ 1878342 w 4753244"/>
              <a:gd name="csY1" fmla="*/ 1582656 h 7495353"/>
              <a:gd name="csX2" fmla="*/ 2545092 w 4753244"/>
              <a:gd name="csY2" fmla="*/ 3659106 h 7495353"/>
              <a:gd name="csX3" fmla="*/ 595642 w 4753244"/>
              <a:gd name="csY3" fmla="*/ 5310106 h 7495353"/>
              <a:gd name="csX4" fmla="*/ 11442 w 4753244"/>
              <a:gd name="csY4" fmla="*/ 6573756 h 7495353"/>
              <a:gd name="csX5" fmla="*/ 995692 w 4753244"/>
              <a:gd name="csY5" fmla="*/ 7196056 h 7495353"/>
              <a:gd name="csX6" fmla="*/ 4316742 w 4753244"/>
              <a:gd name="csY6" fmla="*/ 6967456 h 7495353"/>
              <a:gd name="csX7" fmla="*/ 4685042 w 4753244"/>
              <a:gd name="csY7" fmla="*/ 1246106 h 7495353"/>
              <a:gd name="csX8" fmla="*/ 4037342 w 4753244"/>
              <a:gd name="csY8" fmla="*/ 45956 h 7495353"/>
              <a:gd name="csX9" fmla="*/ 2970542 w 4753244"/>
              <a:gd name="csY9" fmla="*/ 382506 h 7495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753244" h="7495353">
                <a:moveTo>
                  <a:pt x="2970542" y="382506"/>
                </a:moveTo>
                <a:cubicBezTo>
                  <a:pt x="2610709" y="638623"/>
                  <a:pt x="1949250" y="1036556"/>
                  <a:pt x="1878342" y="1582656"/>
                </a:cubicBezTo>
                <a:cubicBezTo>
                  <a:pt x="1807434" y="2128756"/>
                  <a:pt x="2758875" y="3037864"/>
                  <a:pt x="2545092" y="3659106"/>
                </a:cubicBezTo>
                <a:cubicBezTo>
                  <a:pt x="2331309" y="4280348"/>
                  <a:pt x="1017917" y="4824331"/>
                  <a:pt x="595642" y="5310106"/>
                </a:cubicBezTo>
                <a:cubicBezTo>
                  <a:pt x="173367" y="5795881"/>
                  <a:pt x="-55233" y="6259431"/>
                  <a:pt x="11442" y="6573756"/>
                </a:cubicBezTo>
                <a:cubicBezTo>
                  <a:pt x="78117" y="6888081"/>
                  <a:pt x="278142" y="7130439"/>
                  <a:pt x="995692" y="7196056"/>
                </a:cubicBezTo>
                <a:cubicBezTo>
                  <a:pt x="1713242" y="7261673"/>
                  <a:pt x="3701850" y="7959114"/>
                  <a:pt x="4316742" y="6967456"/>
                </a:cubicBezTo>
                <a:cubicBezTo>
                  <a:pt x="4931634" y="5975798"/>
                  <a:pt x="4731609" y="2399689"/>
                  <a:pt x="4685042" y="1246106"/>
                </a:cubicBezTo>
                <a:cubicBezTo>
                  <a:pt x="4638475" y="92523"/>
                  <a:pt x="4326267" y="192006"/>
                  <a:pt x="4037342" y="45956"/>
                </a:cubicBezTo>
                <a:cubicBezTo>
                  <a:pt x="3748417" y="-100094"/>
                  <a:pt x="3330375" y="126389"/>
                  <a:pt x="2970542" y="382506"/>
                </a:cubicBezTo>
                <a:close/>
              </a:path>
            </a:pathLst>
          </a:cu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97140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3043F2-F777-6AA2-0DFB-041A2982AB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7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FB960-86A3-7A81-A144-68EA989C4C1F}"/>
              </a:ext>
            </a:extLst>
          </p:cNvPr>
          <p:cNvSpPr txBox="1"/>
          <p:nvPr/>
        </p:nvSpPr>
        <p:spPr>
          <a:xfrm>
            <a:off x="2235882" y="300709"/>
            <a:ext cx="7720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Используемые источники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9DB73-170A-6F4E-AF57-BD820985CABF}"/>
              </a:ext>
            </a:extLst>
          </p:cNvPr>
          <p:cNvSpPr txBox="1"/>
          <p:nvPr/>
        </p:nvSpPr>
        <p:spPr>
          <a:xfrm>
            <a:off x="812800" y="2446866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F0E1"/>
                </a:solidFill>
                <a:latin typeface="Bahnschrift" panose="020B0502040204020203" pitchFamily="34" charset="0"/>
              </a:rPr>
              <a:t>Документация </a:t>
            </a:r>
            <a:r>
              <a:rPr lang="ru-RU" b="1" dirty="0" err="1">
                <a:solidFill>
                  <a:srgbClr val="FFF0E1"/>
                </a:solidFill>
                <a:latin typeface="Bahnschrift" panose="020B0502040204020203" pitchFamily="34" charset="0"/>
              </a:rPr>
              <a:t>Flask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— официальное руководство по использованию </a:t>
            </a:r>
            <a:r>
              <a:rPr lang="ru-RU" dirty="0" err="1">
                <a:solidFill>
                  <a:srgbClr val="FFF0E1"/>
                </a:solidFill>
                <a:latin typeface="Bahnschrift" panose="020B0502040204020203" pitchFamily="34" charset="0"/>
              </a:rPr>
              <a:t>микрофреймворка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для построения маршрутов и обработки запросов [Электронный ресурс].</a:t>
            </a: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r>
              <a:rPr lang="ru-RU" b="1" dirty="0">
                <a:solidFill>
                  <a:srgbClr val="FFF0E1"/>
                </a:solidFill>
                <a:latin typeface="Bahnschrift" panose="020B0502040204020203" pitchFamily="34" charset="0"/>
              </a:rPr>
              <a:t>Документация </a:t>
            </a:r>
            <a:r>
              <a:rPr lang="ru-RU" b="1" dirty="0" err="1">
                <a:solidFill>
                  <a:srgbClr val="FFF0E1"/>
                </a:solidFill>
                <a:latin typeface="Bahnschrift" panose="020B0502040204020203" pitchFamily="34" charset="0"/>
              </a:rPr>
              <a:t>SQLAlchemy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— руководство по объектно-реляционному отображению и работе с моделями данных [Электронный ресурс].</a:t>
            </a: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endParaRPr lang="ru-RU" dirty="0">
              <a:solidFill>
                <a:srgbClr val="FFF0E1"/>
              </a:solidFill>
              <a:latin typeface="Bahnschrift" panose="020B0502040204020203" pitchFamily="34" charset="0"/>
            </a:endParaRPr>
          </a:p>
          <a:p>
            <a:r>
              <a:rPr lang="ru-RU" b="1" dirty="0">
                <a:solidFill>
                  <a:srgbClr val="FFF0E1"/>
                </a:solidFill>
                <a:latin typeface="Bahnschrift" panose="020B0502040204020203" pitchFamily="34" charset="0"/>
              </a:rPr>
              <a:t>MDN Web </a:t>
            </a:r>
            <a:r>
              <a:rPr lang="ru-RU" b="1" dirty="0" err="1">
                <a:solidFill>
                  <a:srgbClr val="FFF0E1"/>
                </a:solidFill>
                <a:latin typeface="Bahnschrift" panose="020B0502040204020203" pitchFamily="34" charset="0"/>
              </a:rPr>
              <a:t>Docs</a:t>
            </a:r>
            <a:r>
              <a:rPr lang="ru-RU" dirty="0">
                <a:solidFill>
                  <a:srgbClr val="FFF0E1"/>
                </a:solidFill>
                <a:latin typeface="Bahnschrift" panose="020B0502040204020203" pitchFamily="34" charset="0"/>
              </a:rPr>
              <a:t> — справочная информация по стандартам HTML5, CSS3 и JavaScript, используемая при создании фронтенд-части [Электронный ресурс]. </a:t>
            </a:r>
          </a:p>
        </p:txBody>
      </p:sp>
    </p:spTree>
    <p:extLst>
      <p:ext uri="{BB962C8B-B14F-4D97-AF65-F5344CB8AC3E}">
        <p14:creationId xmlns:p14="http://schemas.microsoft.com/office/powerpoint/2010/main" val="2308418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9F3EB7-4B00-36A3-D027-2B80CD0026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B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E50856-5F4E-12F3-BD13-D2D6D0B80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4333" y="0"/>
            <a:ext cx="6307667" cy="44583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F5212E-C42C-FE48-59ED-CDD4F716810F}"/>
              </a:ext>
            </a:extLst>
          </p:cNvPr>
          <p:cNvSpPr txBox="1"/>
          <p:nvPr/>
        </p:nvSpPr>
        <p:spPr>
          <a:xfrm>
            <a:off x="220133" y="4123267"/>
            <a:ext cx="73321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dirty="0">
                <a:solidFill>
                  <a:srgbClr val="FFF0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464534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397</Words>
  <Application>Microsoft Office PowerPoint</Application>
  <PresentationFormat>Широкоэкранный</PresentationFormat>
  <Paragraphs>81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Bahnschrift</vt:lpstr>
      <vt:lpstr>Segoe UI Black</vt:lpstr>
      <vt:lpstr>Тема Office</vt:lpstr>
      <vt:lpstr>SoundHole</vt:lpstr>
      <vt:lpstr>Актуальность</vt:lpstr>
      <vt:lpstr>Цели и задачи</vt:lpstr>
      <vt:lpstr>Используемое ПО и ресурсы</vt:lpstr>
      <vt:lpstr>Методика выполнения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__ __</dc:creator>
  <cp:lastModifiedBy>__ __</cp:lastModifiedBy>
  <cp:revision>16</cp:revision>
  <dcterms:created xsi:type="dcterms:W3CDTF">2026-04-04T21:16:19Z</dcterms:created>
  <dcterms:modified xsi:type="dcterms:W3CDTF">2026-05-13T14:13:49Z</dcterms:modified>
</cp:coreProperties>
</file>